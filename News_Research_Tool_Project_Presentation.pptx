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01000" y="0"/>
            <a:ext cx="4187952" cy="685800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0C1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58200" y="1051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F4F8FC"/>
                </a:solidFill>
                <a:latin typeface="Aptos"/>
              </a:rPr>
              <a:t>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4F8FC"/>
                </a:solidFill>
                <a:latin typeface="Aptos"/>
              </a:rPr>
              <a:t>NEWS
RESEARCH
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0D7FF"/>
                </a:solidFill>
                <a:latin typeface="Aptos"/>
              </a:rPr>
              <a:t>AI-powered news research 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6732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C4"/>
                </a:solidFill>
                <a:latin typeface="Aptos"/>
              </a:rPr>
              <a:t>NewsAPI • LangChain • Groq • Pydantic • 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6217920" cy="86868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901184"/>
            <a:ext cx="5760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C"/>
                </a:solidFill>
                <a:latin typeface="Aptos"/>
              </a:rPr>
              <a:t>From raw news retrieval to structured, multilingual research insights.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EB0C4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Why a dedicated AI news research workflow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03520" cy="43434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D7FF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News research often requires scanning many articles from different sources.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Raw articles are inconsistent in structure, length, and content quality.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Manually comparing developments, affected companies, and market implications is time-consuming.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A useful research tool should turn retrieved news into concise, structured insight.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43434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D7FF"/>
                </a:solidFill>
                <a:latin typeface="Aptos"/>
              </a:rPr>
              <a:t>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Build an end-to-end AI news research application.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Validate and process news before sending it to an LLM.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Generate grounded, structured research summaries.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Support multilingual output and contextual follow-up research.</a:t>
            </a:r>
          </a:p>
          <a:p>
            <a:pPr>
              <a:spcAft>
                <a:spcPts val="7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Provide visual coverage and downloadable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2.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A complete research workflow built around a reusable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1828800" cy="86868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50292" cy="86868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160934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User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148840"/>
            <a:ext cx="1828800" cy="86868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2148840"/>
            <a:ext cx="50292" cy="86868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221992"/>
            <a:ext cx="160934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NewsAPI
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148840"/>
            <a:ext cx="1828800" cy="86868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2148840"/>
            <a:ext cx="50292" cy="86868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2221992"/>
            <a:ext cx="160934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Validation
+ 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148840"/>
            <a:ext cx="1828800" cy="86868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2148840"/>
            <a:ext cx="50292" cy="86868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2221992"/>
            <a:ext cx="160934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Groq LLM
via LangChain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148840"/>
            <a:ext cx="1828800" cy="86868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72600" y="2148840"/>
            <a:ext cx="50292" cy="86868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2221992"/>
            <a:ext cx="1609344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Research
Result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23160" y="2587752"/>
            <a:ext cx="365760" cy="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587752"/>
            <a:ext cx="365760" cy="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12280" y="2587752"/>
            <a:ext cx="365760" cy="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06840" y="2587752"/>
            <a:ext cx="365760" cy="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920240" y="3977639"/>
            <a:ext cx="2148840" cy="77724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7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977639"/>
            <a:ext cx="50292" cy="777240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9968" y="4050791"/>
            <a:ext cx="1929384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AI 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977639"/>
            <a:ext cx="2148840" cy="77724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3977639"/>
            <a:ext cx="50292" cy="77724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7448" y="4050791"/>
            <a:ext cx="1929384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News Images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977639"/>
            <a:ext cx="2148840" cy="77724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5A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3977639"/>
            <a:ext cx="50292" cy="777240"/>
          </a:xfrm>
          <a:prstGeom prst="rect">
            <a:avLst/>
          </a:prstGeom>
          <a:solidFill>
            <a:srgbClr val="5A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4927" y="4050791"/>
            <a:ext cx="1929384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Related Research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80" y="3977639"/>
            <a:ext cx="2148840" cy="77724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EB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12680" y="3977639"/>
            <a:ext cx="50292" cy="777240"/>
          </a:xfrm>
          <a:prstGeom prst="rect">
            <a:avLst/>
          </a:prstGeom>
          <a:solidFill>
            <a:srgbClr val="EB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2407" y="4050791"/>
            <a:ext cx="1929384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Report + CSV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2971800" y="3017520"/>
            <a:ext cx="7315200" cy="960119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669280" y="3017520"/>
            <a:ext cx="4617720" cy="960119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366760" y="3017520"/>
            <a:ext cx="1920240" cy="960119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51560" y="53492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B0C4"/>
                </a:solidFill>
                <a:latin typeface="Aptos"/>
              </a:rPr>
              <a:t>One pipeline powers the core research experience and recommendation-driven follow-up searches.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Separation of concerns across retrieval, processing, inference, and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14884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7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0292" cy="685800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10512"/>
            <a:ext cx="192938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Streamlit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214884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50292" cy="68580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16352"/>
            <a:ext cx="192938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ResearchPipeline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214884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50292" cy="68580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822191"/>
            <a:ext cx="192938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NewsClient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214884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5A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50292" cy="685800"/>
          </a:xfrm>
          <a:prstGeom prst="rect">
            <a:avLst/>
          </a:prstGeom>
          <a:solidFill>
            <a:srgbClr val="5A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28032"/>
            <a:ext cx="192938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NewsArticle
(Pydantic)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10512" y="2423160"/>
            <a:ext cx="0" cy="32004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10512" y="3429000"/>
            <a:ext cx="0" cy="320039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10512" y="4434840"/>
            <a:ext cx="0" cy="32004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0" y="2743200"/>
            <a:ext cx="214884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5A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0" y="2743200"/>
            <a:ext cx="50292" cy="685800"/>
          </a:xfrm>
          <a:prstGeom prst="rect">
            <a:avLst/>
          </a:prstGeom>
          <a:solidFill>
            <a:srgbClr val="5A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8" y="2816352"/>
            <a:ext cx="192938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Article 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886200"/>
            <a:ext cx="214884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7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3886200"/>
            <a:ext cx="50292" cy="685800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7328" y="3959352"/>
            <a:ext cx="192938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GroqClient
(LangChain)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880360" y="3090672"/>
            <a:ext cx="777240" cy="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736592" y="3429000"/>
            <a:ext cx="0" cy="45720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20840" y="2148840"/>
            <a:ext cx="233172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EB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0840" y="2148840"/>
            <a:ext cx="50292" cy="685800"/>
          </a:xfrm>
          <a:prstGeom prst="rect">
            <a:avLst/>
          </a:prstGeom>
          <a:solidFill>
            <a:srgbClr val="EB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0568" y="2221992"/>
            <a:ext cx="2112263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4F8FC"/>
                </a:solidFill>
                <a:latin typeface="Aptos"/>
              </a:rPr>
              <a:t>RelatedNewsGenerator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3337560"/>
            <a:ext cx="233172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EB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3337560"/>
            <a:ext cx="50292" cy="685800"/>
          </a:xfrm>
          <a:prstGeom prst="rect">
            <a:avLst/>
          </a:prstGeom>
          <a:solidFill>
            <a:srgbClr val="EB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0568" y="3410712"/>
            <a:ext cx="2112263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Export Module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4526280"/>
            <a:ext cx="233172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20840" y="4526280"/>
            <a:ext cx="50292" cy="68580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0568" y="4599432"/>
            <a:ext cx="2112263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News Images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46920" y="2148840"/>
            <a:ext cx="160020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46920" y="2148840"/>
            <a:ext cx="50292" cy="68580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6648" y="2221992"/>
            <a:ext cx="138074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NewsAPI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4526280"/>
            <a:ext cx="1600200" cy="6858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7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46920" y="4526280"/>
            <a:ext cx="50292" cy="685800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6648" y="4599432"/>
            <a:ext cx="138074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Groq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5806440" y="2496312"/>
            <a:ext cx="914400" cy="59436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06440" y="4224528"/>
            <a:ext cx="914400" cy="649224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52560" y="2496312"/>
            <a:ext cx="594360" cy="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52560" y="4873752"/>
            <a:ext cx="594360" cy="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4.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Technologies selected for a practical, modular AI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2240280" cy="5029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645920"/>
            <a:ext cx="8183879" cy="5029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755648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8FC"/>
                </a:solidFill>
                <a:latin typeface="Aptos"/>
              </a:rPr>
              <a:t>Core application and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12848"/>
            <a:ext cx="2240280" cy="5029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2257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Streamlit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212848"/>
            <a:ext cx="8183879" cy="5029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322576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8FC"/>
                </a:solidFill>
                <a:latin typeface="Aptos"/>
              </a:rPr>
              <a:t>Interactive research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79776"/>
            <a:ext cx="2240280" cy="5029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88950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NewsAPI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779776"/>
            <a:ext cx="8183879" cy="5029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889504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8FC"/>
                </a:solidFill>
                <a:latin typeface="Aptos"/>
              </a:rPr>
              <a:t>News article retrieval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46704"/>
            <a:ext cx="2240280" cy="5029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LangChain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346704"/>
            <a:ext cx="8183879" cy="5029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456432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8FC"/>
                </a:solidFill>
                <a:latin typeface="Aptos"/>
              </a:rPr>
              <a:t>LLM application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13632"/>
            <a:ext cx="2240280" cy="5029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233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Groq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3913632"/>
            <a:ext cx="8183879" cy="5029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023360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8FC"/>
                </a:solidFill>
                <a:latin typeface="Aptos"/>
              </a:rPr>
              <a:t>LLM inference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0560"/>
            <a:ext cx="2240280" cy="5029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59028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Pydantic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4680" y="4480560"/>
            <a:ext cx="8183879" cy="5029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590288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8FC"/>
                </a:solidFill>
                <a:latin typeface="Aptos"/>
              </a:rPr>
              <a:t>Structured article 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047488"/>
            <a:ext cx="2240280" cy="5029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15721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Pytest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5047488"/>
            <a:ext cx="8183879" cy="5029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5157216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8FC"/>
                </a:solidFill>
                <a:latin typeface="Aptos"/>
              </a:rPr>
              <a:t>Automated testing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614416"/>
            <a:ext cx="2240280" cy="5029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72414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python-dotenv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54680" y="5614416"/>
            <a:ext cx="8183879" cy="5029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5724144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8FC"/>
                </a:solidFill>
                <a:latin typeface="Aptos"/>
              </a:rPr>
              <a:t>Environment-based secrets/configuration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5. Core Research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How raw news becomes structured research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70D7FF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563624"/>
            <a:ext cx="1874519" cy="566928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700784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18488"/>
            <a:ext cx="7635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EB0C4"/>
                </a:solidFill>
                <a:latin typeface="Aptos"/>
              </a:rPr>
              <a:t>User enters a company, market, sector, industry, or topic.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70D7FF"/>
                </a:solidFill>
                <a:latin typeface="Aptos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322576"/>
            <a:ext cx="1874519" cy="566928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459736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77440"/>
            <a:ext cx="7635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EB0C4"/>
                </a:solidFill>
                <a:latin typeface="Aptos"/>
              </a:rPr>
              <a:t>NewsAPI returns relevant articles.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18104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70D7FF"/>
                </a:solidFill>
                <a:latin typeface="Aptos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3081528"/>
            <a:ext cx="1874519" cy="566928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21868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36392"/>
            <a:ext cx="7635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EB0C4"/>
                </a:solidFill>
                <a:latin typeface="Aptos"/>
              </a:rPr>
              <a:t>Pydantic converts valid responses into NewsArticle objects.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77056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70D7FF"/>
                </a:solidFill>
                <a:latin typeface="Aptos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840480"/>
            <a:ext cx="1874519" cy="566928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9776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895344"/>
            <a:ext cx="7635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EB0C4"/>
                </a:solidFill>
                <a:latin typeface="Aptos"/>
              </a:rPr>
              <a:t>Text is cleaned, normalized, truncated, and formatted.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36008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70D7FF"/>
                </a:solidFill>
                <a:latin typeface="Aptos"/>
              </a:rPr>
              <a:t>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4599432"/>
            <a:ext cx="1874519" cy="566928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473659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654296"/>
            <a:ext cx="7635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EB0C4"/>
                </a:solidFill>
                <a:latin typeface="Aptos"/>
              </a:rPr>
              <a:t>A structured research prompt is sent to Groq through LangChain.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70D7FF"/>
                </a:solidFill>
                <a:latin typeface="Aptos"/>
              </a:rPr>
              <a:t>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5358384"/>
            <a:ext cx="1874519" cy="566928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495544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Present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413248"/>
            <a:ext cx="7635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EB0C4"/>
                </a:solidFill>
                <a:latin typeface="Aptos"/>
              </a:rPr>
              <a:t>Summary, sources, images, recommendations, and exports are shown.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6. AI Research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Structured, source-grounded output rather than a generic text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212080" cy="7315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1. Executive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5212080" cy="7315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9864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2. Key Developments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49039"/>
            <a:ext cx="5212080" cy="7315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020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3. Companies / Markets Affected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12080" cy="7315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4708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4. Business &amp; Market Implications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97480"/>
            <a:ext cx="5212080" cy="7315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9864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5. Risks / Contradictions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39"/>
            <a:ext cx="5212080" cy="7315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5020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6. Research Takeaway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10607040" cy="960120"/>
          </a:xfrm>
          <a:prstGeom prst="roundRect">
            <a:avLst/>
          </a:prstGeom>
          <a:solidFill>
            <a:srgbClr val="081523"/>
          </a:solidFill>
          <a:ln w="12700">
            <a:solidFill>
              <a:srgbClr val="7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846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0D7FF"/>
                </a:solidFill>
                <a:latin typeface="Aptos"/>
              </a:rPr>
              <a:t>Grounding principles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1206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Aptos"/>
              </a:rPr>
              <a:t>Use retrieved evidence • avoid invented facts, numbers, or events • distinguish facts from implications • surface uncertainty • avoid investment advice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7. Multilingual &amp; Visual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The same research workflow supports broader audiences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233172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105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EB0C4"/>
                </a:solidFill>
                <a:latin typeface="Aptos"/>
              </a:rPr>
              <a:t>OUTPUT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33172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8105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EB0C4"/>
                </a:solidFill>
                <a:latin typeface="Aptos"/>
              </a:rPr>
              <a:t>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1031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English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45920"/>
            <a:ext cx="233172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8105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EB0C4"/>
                </a:solidFill>
                <a:latin typeface="Aptos"/>
              </a:rPr>
              <a:t>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1031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Hindi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645920"/>
            <a:ext cx="233172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8105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EB0C4"/>
                </a:solidFill>
                <a:latin typeface="Aptos"/>
              </a:rPr>
              <a:t>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1031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Marathi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154680"/>
            <a:ext cx="5074920" cy="23317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429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D7FF"/>
                </a:solidFill>
                <a:latin typeface="Aptos"/>
              </a:rPr>
              <a:t>🖼️ News imagery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8862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Uses image URLs supplied by retrieved news articles.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Displays a featured research image near the AI summary.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Displays source-specific images in article cards.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No separate image-generation API is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154680"/>
            <a:ext cx="5074920" cy="23317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429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D7FF"/>
                </a:solidFill>
                <a:latin typeface="Aptos"/>
              </a:rPr>
              <a:t>🌐 Language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862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Language selection is passed into the research prompt.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The same retrieved evidence can produce English, Hindi, or Marathi output.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Manual QA verified Hindi output on a general-audience topic.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8. Related Research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Turn one research question into a contextual research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011680" cy="7315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7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0292" cy="731520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1792224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Original Query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194560"/>
            <a:ext cx="822960" cy="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1737360"/>
            <a:ext cx="2468880" cy="9144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EB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737360"/>
            <a:ext cx="50292" cy="914400"/>
          </a:xfrm>
          <a:prstGeom prst="rect">
            <a:avLst/>
          </a:prstGeom>
          <a:solidFill>
            <a:srgbClr val="EB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810512"/>
            <a:ext cx="22494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LLM Recommendation
Generator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126480" y="1691640"/>
            <a:ext cx="868680" cy="50292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6480" y="2194560"/>
            <a:ext cx="868680" cy="1097280"/>
          </a:xfrm>
          <a:prstGeom prst="line">
            <a:avLst/>
          </a:prstGeom>
          <a:ln w="25400">
            <a:solidFill>
              <a:srgbClr val="70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95160" y="1234440"/>
            <a:ext cx="3840480" cy="9144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5A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1234440"/>
            <a:ext cx="50292" cy="914400"/>
          </a:xfrm>
          <a:prstGeom prst="rect">
            <a:avLst/>
          </a:prstGeom>
          <a:solidFill>
            <a:srgbClr val="5A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1307592"/>
            <a:ext cx="36210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🎯 Within This Topic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2834640"/>
            <a:ext cx="3840480" cy="9144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B8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95160" y="2834640"/>
            <a:ext cx="50292" cy="914400"/>
          </a:xfrm>
          <a:prstGeom prst="rect">
            <a:avLst/>
          </a:prstGeom>
          <a:solidFill>
            <a:srgbClr val="1B8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2907792"/>
            <a:ext cx="3621024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🌍 Broader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06240"/>
            <a:ext cx="1005840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34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0D7FF"/>
                </a:solidFill>
                <a:latin typeface="Aptos"/>
              </a:rPr>
              <a:t>Example: Air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370832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Within topic → international routes, fleet modernization, financial results, labor negotiations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773168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Broader context → IndiGo, Vistara, Indian aviation market, government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6928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Clicking a recommendation triggers a fresh research run through the existing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9. Export &amp; Downloads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Research results can leave the application in reusable formats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166360" cy="3977639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0D7FF"/>
                </a:solidFill>
                <a:latin typeface="Aptos"/>
              </a:rPr>
              <a:t>📄 Research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Research query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Output language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Research period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Articles analyzed and source count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AI research summary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Source article information and URLs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166360" cy="3977639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0D7FF"/>
                </a:solidFill>
                <a:latin typeface="Aptos"/>
              </a:rPr>
              <a:t>📊 Articles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Title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Source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Published date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Description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92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C4"/>
                </a:solidFill>
                <a:latin typeface="Aptos"/>
              </a:rPr>
              <a:t>Useful for retention, sharing, and further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10. Engineering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Design choices that make the application easier to test and maintain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52760" cy="713232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0D7FF"/>
                </a:solidFill>
                <a:latin typeface="Aptos"/>
              </a:rPr>
              <a:t>Pydantic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73352"/>
            <a:ext cx="7543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Converts external API responses into structured NewsArticle objects and safely skips invalid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86584"/>
            <a:ext cx="10652760" cy="713232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2374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0D7FF"/>
                </a:solidFill>
                <a:latin typeface="Aptos"/>
              </a:rPr>
              <a:t>Custom exceptions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59736"/>
            <a:ext cx="7543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Separates authentication, rate-limit, request, and response failures for clearer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72968"/>
            <a:ext cx="10652760" cy="713232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10127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0D7FF"/>
                </a:solidFill>
                <a:latin typeface="Aptos"/>
              </a:rPr>
              <a:t>Text processing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46120"/>
            <a:ext cx="7543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Normalizes whitespace, limits article size, and creates predictable LLM-ready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59352"/>
            <a:ext cx="10652760" cy="713232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965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0D7FF"/>
                </a:solidFill>
                <a:latin typeface="Aptos"/>
              </a:rPr>
              <a:t>Prompt grounding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032504"/>
            <a:ext cx="7543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Constrains the LLM to retrieved evidence and asks it to surface uncertainty.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45736"/>
            <a:ext cx="10652760" cy="713232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8289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0D7FF"/>
                </a:solidFill>
                <a:latin typeface="Aptos"/>
              </a:rPr>
              <a:t>Recommendation 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818888"/>
            <a:ext cx="7543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Uses structured JSON, removes duplicates, enforces limits, and handles invalid output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32120"/>
            <a:ext cx="10652760" cy="713232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0D7FF"/>
                </a:solidFill>
                <a:latin typeface="Aptos"/>
              </a:rPr>
              <a:t>Environment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605272"/>
            <a:ext cx="7543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API credentials stay outside source code and are excluded through .gitignore.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11.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Automated and manual QA completed before final repository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274320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10512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EB0C4"/>
                </a:solidFill>
                <a:latin typeface="Aptos"/>
              </a:rPr>
              <a:t>AUTOMATED TESTS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2414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42/42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645920"/>
            <a:ext cx="274320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1810512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EB0C4"/>
                </a:solidFill>
                <a:latin typeface="Aptos"/>
              </a:rPr>
              <a:t>PYTHON COMPILATION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2103120"/>
            <a:ext cx="2414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645920"/>
            <a:ext cx="274320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810512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EB0C4"/>
                </a:solidFill>
                <a:latin typeface="Aptos"/>
              </a:rPr>
              <a:t>MANUAL END-TO-END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103120"/>
            <a:ext cx="2414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645920"/>
            <a:ext cx="160020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4392" y="181051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EB0C4"/>
                </a:solidFill>
                <a:latin typeface="Aptos"/>
              </a:rPr>
              <a:t>GIT WORKING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2" y="2103120"/>
            <a:ext cx="1271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CLEAN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10652760" cy="20574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5204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D7FF"/>
                </a:solidFill>
                <a:latin typeface="Aptos"/>
              </a:rPr>
              <a:t>Manual QA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77639"/>
            <a:ext cx="9326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Normal research search with featured and source images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Non-technical topic with Hindi output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Recommendation click → fresh research query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Research report and CSV downloads</a:t>
            </a:r>
          </a:p>
          <a:p>
            <a:pPr>
              <a:spcAft>
                <a:spcPts val="7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• Empty-query validation without application crash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23560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EB0C4"/>
                </a:solidFill>
                <a:latin typeface="Aptos"/>
              </a:rPr>
              <a:t>Final repository was pushed to GitHub with .env excluded from tracked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12. Project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From assignment baseline to a broader, portfolio-ready research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246120" cy="4389120"/>
          </a:xfrm>
          <a:prstGeom prst="roundRect">
            <a:avLst/>
          </a:prstGeom>
          <a:solidFill>
            <a:srgbClr val="0C1929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B0C4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News retrieval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LLM summarization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Streamlit interface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Basic testing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Environment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246120" cy="43891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0D7FF"/>
                </a:solidFill>
                <a:latin typeface="Aptos"/>
              </a:rPr>
              <a:t>ENGINEERING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Pydantic models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Custom API exceptions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Article processing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Structured research prompt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Configurable article/date limits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Automated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645920"/>
            <a:ext cx="3246120" cy="43891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0D7FF"/>
                </a:solidFill>
                <a:latin typeface="Aptos"/>
              </a:rPr>
              <a:t>PRODUCT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42316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English / Hindi / Marathi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Featured + source images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Related research paths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Broader-context exploration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Recommendation-driven search</a:t>
            </a:r>
          </a:p>
          <a:p>
            <a:pPr>
              <a:spcAft>
                <a:spcPts val="7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Report + CSV export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13.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EB0C4"/>
                </a:solidFill>
                <a:latin typeface="Aptos"/>
              </a:rPr>
              <a:t>Logical next steps without changing the current stable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7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EB0C4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EB0C4"/>
                </a:solidFill>
                <a:latin typeface="Aptos"/>
              </a:rPr>
              <a:t>News Research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Research result caching to reduce repeated API/LLM calls.</a:t>
            </a:r>
          </a:p>
          <a:p>
            <a:pPr>
              <a:spcAft>
                <a:spcPts val="7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Persistent research history and saved queries.</a:t>
            </a:r>
          </a:p>
          <a:p>
            <a:pPr>
              <a:spcAft>
                <a:spcPts val="7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Advanced source/category filtering and source credibility scoring.</a:t>
            </a:r>
          </a:p>
          <a:p>
            <a:pPr>
              <a:spcAft>
                <a:spcPts val="7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Historical trend analysis across repeated topics.</a:t>
            </a:r>
          </a:p>
          <a:p>
            <a:pPr>
              <a:spcAft>
                <a:spcPts val="7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User authentication and personalized workspaces.</a:t>
            </a:r>
          </a:p>
          <a:p>
            <a:pPr>
              <a:spcAft>
                <a:spcPts val="7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Cloud deployment and production observability.</a:t>
            </a:r>
          </a:p>
          <a:p>
            <a:pPr>
              <a:spcAft>
                <a:spcPts val="7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Additional LLM providers and more comprehensive integration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57800"/>
            <a:ext cx="10058400" cy="73152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46811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0D7FF"/>
                </a:solidFill>
                <a:latin typeface="Aptos"/>
              </a:rPr>
              <a:t>The current implementation provides a stable foundation for these extensions.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4F8FC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0D7FF"/>
                </a:solidFill>
                <a:latin typeface="Aptos"/>
              </a:rPr>
              <a:t>News Research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9EB0C4"/>
                </a:solidFill>
                <a:latin typeface="Aptos"/>
              </a:rPr>
              <a:t>Retrieve • Validate • Analyze • Recommend •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3794760"/>
            <a:ext cx="8229600" cy="1143000"/>
          </a:xfrm>
          <a:prstGeom prst="roundRect">
            <a:avLst/>
          </a:prstGeom>
          <a:solidFill>
            <a:srgbClr val="0D1B2E"/>
          </a:solidFill>
          <a:ln w="12700">
            <a:solidFill>
              <a:srgbClr val="1D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4142232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Aptos"/>
              </a:rPr>
              <a:t>42/42 tests passed  •  Multilingual  •  Visual news  •  Related research  • 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70D7FF"/>
                </a:solidFill>
                <a:latin typeface="Aptos"/>
              </a:rPr>
              <a:t>AI-powered news research for faster, structured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